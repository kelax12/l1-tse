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sldIdLst>
    <p:sldId id="342" r:id="rId2"/>
    <p:sldId id="344" r:id="rId3"/>
    <p:sldId id="347" r:id="rId4"/>
    <p:sldId id="345" r:id="rId5"/>
    <p:sldId id="343" r:id="rId6"/>
    <p:sldId id="259" r:id="rId7"/>
    <p:sldId id="349" r:id="rId8"/>
    <p:sldId id="346" r:id="rId9"/>
    <p:sldId id="350" r:id="rId10"/>
    <p:sldId id="311" r:id="rId11"/>
    <p:sldId id="34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sans titre" id="{AEDD1478-9692-4B02-991D-D61E35352DAE}">
          <p14:sldIdLst>
            <p14:sldId id="342"/>
            <p14:sldId id="344"/>
            <p14:sldId id="347"/>
            <p14:sldId id="345"/>
            <p14:sldId id="343"/>
            <p14:sldId id="259"/>
            <p14:sldId id="349"/>
            <p14:sldId id="346"/>
            <p14:sldId id="350"/>
            <p14:sldId id="311"/>
            <p14:sldId id="34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67" d="100"/>
          <a:sy n="67" d="100"/>
        </p:scale>
        <p:origin x="6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9FED4E75-A903-47B5-A551-F58D77B4C26E}" type="datetimeFigureOut">
              <a:rPr lang="fr-FR" smtClean="0"/>
              <a:t>31/08/2026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10940EE-6301-4A45-9704-839F8F6E15A6}" type="slidenum">
              <a:rPr lang="fr-FR" smtClean="0"/>
              <a:t>‹N°›</a:t>
            </a:fld>
            <a:endParaRPr lang="fr-FR"/>
          </a:p>
        </p:txBody>
      </p:sp>
    </p:spTree>
    <p:extLst>
      <p:ext uri="{BB962C8B-B14F-4D97-AF65-F5344CB8AC3E}">
        <p14:creationId xmlns:p14="http://schemas.microsoft.com/office/powerpoint/2010/main" val="426458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fr-FR"/>
              <a:t>Modifiez le style du titre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FED4E75-A903-47B5-A551-F58D77B4C26E}" type="datetimeFigureOut">
              <a:rPr lang="fr-FR" smtClean="0"/>
              <a:t>31/08/2026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10940EE-6301-4A45-9704-839F8F6E15A6}" type="slidenum">
              <a:rPr lang="fr-FR" smtClean="0"/>
              <a:t>‹N°›</a:t>
            </a:fld>
            <a:endParaRPr lang="fr-FR"/>
          </a:p>
        </p:txBody>
      </p:sp>
    </p:spTree>
    <p:extLst>
      <p:ext uri="{BB962C8B-B14F-4D97-AF65-F5344CB8AC3E}">
        <p14:creationId xmlns:p14="http://schemas.microsoft.com/office/powerpoint/2010/main" val="3467354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fr-FR"/>
              <a:t>Modifiez le style du titre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9FED4E75-A903-47B5-A551-F58D77B4C26E}" type="datetimeFigureOut">
              <a:rPr lang="fr-FR" smtClean="0"/>
              <a:t>31/08/2026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10940EE-6301-4A45-9704-839F8F6E15A6}" type="slidenum">
              <a:rPr lang="fr-FR" smtClean="0"/>
              <a:t>‹N°›</a:t>
            </a:fld>
            <a:endParaRPr lang="fr-FR"/>
          </a:p>
        </p:txBody>
      </p:sp>
    </p:spTree>
    <p:extLst>
      <p:ext uri="{BB962C8B-B14F-4D97-AF65-F5344CB8AC3E}">
        <p14:creationId xmlns:p14="http://schemas.microsoft.com/office/powerpoint/2010/main" val="1690697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9FED4E75-A903-47B5-A551-F58D77B4C26E}" type="datetimeFigureOut">
              <a:rPr lang="fr-FR" smtClean="0"/>
              <a:t>31/08/2026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10940EE-6301-4A45-9704-839F8F6E15A6}" type="slidenum">
              <a:rPr lang="fr-FR" smtClean="0"/>
              <a:t>‹N°›</a:t>
            </a:fld>
            <a:endParaRPr lang="fr-FR"/>
          </a:p>
        </p:txBody>
      </p:sp>
    </p:spTree>
    <p:extLst>
      <p:ext uri="{BB962C8B-B14F-4D97-AF65-F5344CB8AC3E}">
        <p14:creationId xmlns:p14="http://schemas.microsoft.com/office/powerpoint/2010/main" val="245067784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9FED4E75-A903-47B5-A551-F58D77B4C26E}" type="datetimeFigureOut">
              <a:rPr lang="fr-FR" smtClean="0"/>
              <a:t>31/08/2026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910940EE-6301-4A45-9704-839F8F6E15A6}" type="slidenum">
              <a:rPr lang="fr-FR" smtClean="0"/>
              <a:t>‹N°›</a:t>
            </a:fld>
            <a:endParaRPr lang="fr-FR"/>
          </a:p>
        </p:txBody>
      </p:sp>
    </p:spTree>
    <p:extLst>
      <p:ext uri="{BB962C8B-B14F-4D97-AF65-F5344CB8AC3E}">
        <p14:creationId xmlns:p14="http://schemas.microsoft.com/office/powerpoint/2010/main" val="19146838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9FED4E75-A903-47B5-A551-F58D77B4C26E}" type="datetimeFigureOut">
              <a:rPr lang="fr-FR" smtClean="0"/>
              <a:t>31/08/2026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910940EE-6301-4A45-9704-839F8F6E15A6}" type="slidenum">
              <a:rPr lang="fr-FR" smtClean="0"/>
              <a:t>‹N°›</a:t>
            </a:fld>
            <a:endParaRPr lang="fr-FR"/>
          </a:p>
        </p:txBody>
      </p:sp>
    </p:spTree>
    <p:extLst>
      <p:ext uri="{BB962C8B-B14F-4D97-AF65-F5344CB8AC3E}">
        <p14:creationId xmlns:p14="http://schemas.microsoft.com/office/powerpoint/2010/main" val="2943181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ED4E75-A903-47B5-A551-F58D77B4C26E}" type="datetimeFigureOut">
              <a:rPr lang="fr-FR" smtClean="0"/>
              <a:t>31/08/2026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910940EE-6301-4A45-9704-839F8F6E15A6}" type="slidenum">
              <a:rPr lang="fr-FR" smtClean="0"/>
              <a:t>‹N°›</a:t>
            </a:fld>
            <a:endParaRPr lang="fr-FR"/>
          </a:p>
        </p:txBody>
      </p:sp>
    </p:spTree>
    <p:extLst>
      <p:ext uri="{BB962C8B-B14F-4D97-AF65-F5344CB8AC3E}">
        <p14:creationId xmlns:p14="http://schemas.microsoft.com/office/powerpoint/2010/main" val="1702367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fr-FR"/>
              <a:t>Modifiez le style du titre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FED4E75-A903-47B5-A551-F58D77B4C26E}" type="datetimeFigureOut">
              <a:rPr lang="fr-FR" smtClean="0"/>
              <a:t>31/08/2026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10940EE-6301-4A45-9704-839F8F6E15A6}" type="slidenum">
              <a:rPr lang="fr-FR" smtClean="0"/>
              <a:t>‹N°›</a:t>
            </a:fld>
            <a:endParaRPr lang="fr-FR"/>
          </a:p>
        </p:txBody>
      </p:sp>
    </p:spTree>
    <p:extLst>
      <p:ext uri="{BB962C8B-B14F-4D97-AF65-F5344CB8AC3E}">
        <p14:creationId xmlns:p14="http://schemas.microsoft.com/office/powerpoint/2010/main" val="80750890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fr-FR"/>
              <a:t>Modifiez le style du titre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fr-FR"/>
              <a:t>Cliquez sur l'icône pour ajouter une image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a:xfrm>
            <a:off x="3885810" y="6041362"/>
            <a:ext cx="976879" cy="365125"/>
          </a:xfrm>
        </p:spPr>
        <p:txBody>
          <a:bodyPr/>
          <a:lstStyle/>
          <a:p>
            <a:fld id="{9FED4E75-A903-47B5-A551-F58D77B4C26E}" type="datetimeFigureOut">
              <a:rPr lang="fr-FR" smtClean="0"/>
              <a:t>31/08/2026</a:t>
            </a:fld>
            <a:endParaRPr lang="fr-FR"/>
          </a:p>
        </p:txBody>
      </p:sp>
      <p:sp>
        <p:nvSpPr>
          <p:cNvPr id="6" name="Footer Placeholder 5"/>
          <p:cNvSpPr>
            <a:spLocks noGrp="1"/>
          </p:cNvSpPr>
          <p:nvPr>
            <p:ph type="ftr" sz="quarter" idx="11"/>
          </p:nvPr>
        </p:nvSpPr>
        <p:spPr>
          <a:xfrm>
            <a:off x="590396" y="6041362"/>
            <a:ext cx="3295413" cy="365125"/>
          </a:xfrm>
        </p:spPr>
        <p:txBody>
          <a:bodyPr/>
          <a:lstStyle/>
          <a:p>
            <a:endParaRPr lang="fr-FR"/>
          </a:p>
        </p:txBody>
      </p:sp>
      <p:sp>
        <p:nvSpPr>
          <p:cNvPr id="7" name="Slide Number Placeholder 6"/>
          <p:cNvSpPr>
            <a:spLocks noGrp="1"/>
          </p:cNvSpPr>
          <p:nvPr>
            <p:ph type="sldNum" sz="quarter" idx="12"/>
          </p:nvPr>
        </p:nvSpPr>
        <p:spPr>
          <a:xfrm>
            <a:off x="4862689" y="5915888"/>
            <a:ext cx="1062155" cy="490599"/>
          </a:xfrm>
        </p:spPr>
        <p:txBody>
          <a:bodyPr/>
          <a:lstStyle/>
          <a:p>
            <a:fld id="{910940EE-6301-4A45-9704-839F8F6E15A6}" type="slidenum">
              <a:rPr lang="fr-FR" smtClean="0"/>
              <a:t>‹N°›</a:t>
            </a:fld>
            <a:endParaRPr lang="fr-FR"/>
          </a:p>
        </p:txBody>
      </p:sp>
    </p:spTree>
    <p:extLst>
      <p:ext uri="{BB962C8B-B14F-4D97-AF65-F5344CB8AC3E}">
        <p14:creationId xmlns:p14="http://schemas.microsoft.com/office/powerpoint/2010/main" val="882092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fr-FR"/>
              <a:t>Modifiez le style du titre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fr-FR"/>
              <a:t>Cliquez sur l'icône pour ajouter une image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FED4E75-A903-47B5-A551-F58D77B4C26E}" type="datetimeFigureOut">
              <a:rPr lang="fr-FR" smtClean="0"/>
              <a:t>31/08/2026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10940EE-6301-4A45-9704-839F8F6E15A6}" type="slidenum">
              <a:rPr lang="fr-FR" smtClean="0"/>
              <a:t>‹N°›</a:t>
            </a:fld>
            <a:endParaRPr lang="fr-FR"/>
          </a:p>
        </p:txBody>
      </p:sp>
    </p:spTree>
    <p:extLst>
      <p:ext uri="{BB962C8B-B14F-4D97-AF65-F5344CB8AC3E}">
        <p14:creationId xmlns:p14="http://schemas.microsoft.com/office/powerpoint/2010/main" val="3504628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fr-FR"/>
              <a:t>Modifiez le style du titre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9FED4E75-A903-47B5-A551-F58D77B4C26E}" type="datetimeFigureOut">
              <a:rPr lang="fr-FR" smtClean="0"/>
              <a:t>31/08/2026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10940EE-6301-4A45-9704-839F8F6E15A6}" type="slidenum">
              <a:rPr lang="fr-FR" smtClean="0"/>
              <a:t>‹N°›</a:t>
            </a:fld>
            <a:endParaRPr lang="fr-FR"/>
          </a:p>
        </p:txBody>
      </p:sp>
    </p:spTree>
    <p:extLst>
      <p:ext uri="{BB962C8B-B14F-4D97-AF65-F5344CB8AC3E}">
        <p14:creationId xmlns:p14="http://schemas.microsoft.com/office/powerpoint/2010/main" val="2064027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fr-FR"/>
              <a:t>Modifiez le style du titre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fr-FR"/>
              <a:t>Cliquez pour modifier les styles du texte du masque</a:t>
            </a:r>
          </a:p>
        </p:txBody>
      </p:sp>
      <p:sp>
        <p:nvSpPr>
          <p:cNvPr id="2" name="Date Placeholder 1"/>
          <p:cNvSpPr>
            <a:spLocks noGrp="1"/>
          </p:cNvSpPr>
          <p:nvPr>
            <p:ph type="dt" sz="half" idx="10"/>
          </p:nvPr>
        </p:nvSpPr>
        <p:spPr/>
        <p:txBody>
          <a:bodyPr/>
          <a:lstStyle/>
          <a:p>
            <a:fld id="{9FED4E75-A903-47B5-A551-F58D77B4C26E}" type="datetimeFigureOut">
              <a:rPr lang="fr-FR" smtClean="0"/>
              <a:t>31/08/2026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910940EE-6301-4A45-9704-839F8F6E15A6}" type="slidenum">
              <a:rPr lang="fr-FR" smtClean="0"/>
              <a:t>‹N°›</a:t>
            </a:fld>
            <a:endParaRPr lang="fr-FR"/>
          </a:p>
        </p:txBody>
      </p:sp>
    </p:spTree>
    <p:extLst>
      <p:ext uri="{BB962C8B-B14F-4D97-AF65-F5344CB8AC3E}">
        <p14:creationId xmlns:p14="http://schemas.microsoft.com/office/powerpoint/2010/main" val="28447800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FED4E75-A903-47B5-A551-F58D77B4C26E}" type="datetimeFigureOut">
              <a:rPr lang="fr-FR" smtClean="0"/>
              <a:t>31/08/2026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10940EE-6301-4A45-9704-839F8F6E15A6}" type="slidenum">
              <a:rPr lang="fr-FR" smtClean="0"/>
              <a:t>‹N°›</a:t>
            </a:fld>
            <a:endParaRPr lang="fr-FR"/>
          </a:p>
        </p:txBody>
      </p:sp>
    </p:spTree>
    <p:extLst>
      <p:ext uri="{BB962C8B-B14F-4D97-AF65-F5344CB8AC3E}">
        <p14:creationId xmlns:p14="http://schemas.microsoft.com/office/powerpoint/2010/main" val="25223105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FED4E75-A903-47B5-A551-F58D77B4C26E}" type="datetimeFigureOut">
              <a:rPr lang="fr-FR" smtClean="0"/>
              <a:t>31/08/2026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10940EE-6301-4A45-9704-839F8F6E15A6}" type="slidenum">
              <a:rPr lang="fr-FR" smtClean="0"/>
              <a:t>‹N°›</a:t>
            </a:fld>
            <a:endParaRPr lang="fr-FR"/>
          </a:p>
        </p:txBody>
      </p:sp>
    </p:spTree>
    <p:extLst>
      <p:ext uri="{BB962C8B-B14F-4D97-AF65-F5344CB8AC3E}">
        <p14:creationId xmlns:p14="http://schemas.microsoft.com/office/powerpoint/2010/main" val="526905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fr-FR"/>
              <a:t>Modifiez le style du titre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fr-FR"/>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9FED4E75-A903-47B5-A551-F58D77B4C26E}" type="datetimeFigureOut">
              <a:rPr lang="fr-FR" smtClean="0"/>
              <a:t>31/08/2026</a:t>
            </a:fld>
            <a:endParaRPr lang="fr-FR"/>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910940EE-6301-4A45-9704-839F8F6E15A6}" type="slidenum">
              <a:rPr lang="fr-FR" smtClean="0"/>
              <a:t>‹N°›</a:t>
            </a:fld>
            <a:endParaRPr lang="fr-FR"/>
          </a:p>
        </p:txBody>
      </p:sp>
    </p:spTree>
    <p:extLst>
      <p:ext uri="{BB962C8B-B14F-4D97-AF65-F5344CB8AC3E}">
        <p14:creationId xmlns:p14="http://schemas.microsoft.com/office/powerpoint/2010/main" val="1908545334"/>
      </p:ext>
    </p:extLst>
  </p:cSld>
  <p:clrMap bg1="dk1" tx1="lt1" bg2="dk2" tx2="lt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08FCEC6B-1FF5-427A-8D79-DDF1A8B558C8}"/>
              </a:ext>
            </a:extLst>
          </p:cNvPr>
          <p:cNvSpPr>
            <a:spLocks noGrp="1"/>
          </p:cNvSpPr>
          <p:nvPr>
            <p:ph type="title"/>
          </p:nvPr>
        </p:nvSpPr>
        <p:spPr>
          <a:xfrm>
            <a:off x="800770" y="1517889"/>
            <a:ext cx="10515600" cy="310912"/>
          </a:xfrm>
        </p:spPr>
        <p:txBody>
          <a:bodyPr>
            <a:normAutofit fontScale="90000"/>
          </a:bodyPr>
          <a:lstStyle/>
          <a:p>
            <a:r>
              <a:rPr lang="fr-FR" dirty="0"/>
              <a:t>       </a:t>
            </a:r>
            <a:r>
              <a:rPr lang="fr-FR" sz="3600" b="1" dirty="0"/>
              <a:t>Cours L1 Science politique empirique (15h)</a:t>
            </a:r>
            <a:br>
              <a:rPr lang="fr-FR" sz="3600" b="1" dirty="0"/>
            </a:br>
            <a:r>
              <a:rPr lang="fr-FR" sz="3600" b="1" dirty="0"/>
              <a:t>		</a:t>
            </a:r>
            <a:r>
              <a:rPr lang="fr-FR" sz="3100" b="1" dirty="0"/>
              <a:t>Jérôme Ferret, </a:t>
            </a:r>
            <a:br>
              <a:rPr lang="fr-FR" sz="3100" b="1" dirty="0"/>
            </a:br>
            <a:r>
              <a:rPr lang="fr-FR" sz="3100" b="1" dirty="0"/>
              <a:t>		</a:t>
            </a:r>
            <a:r>
              <a:rPr lang="fr-FR" sz="3100" b="1" dirty="0" err="1"/>
              <a:t>Mcf</a:t>
            </a:r>
            <a:r>
              <a:rPr lang="fr-FR" sz="3100" b="1" dirty="0"/>
              <a:t> HDR (EHESS) en sociologie </a:t>
            </a:r>
            <a:endParaRPr lang="fr-FR" sz="3100" b="1" dirty="0">
              <a:latin typeface="+mn-lt"/>
            </a:endParaRPr>
          </a:p>
        </p:txBody>
      </p:sp>
      <p:sp>
        <p:nvSpPr>
          <p:cNvPr id="4" name="Espace réservé du contenu 3">
            <a:extLst>
              <a:ext uri="{FF2B5EF4-FFF2-40B4-BE49-F238E27FC236}">
                <a16:creationId xmlns:a16="http://schemas.microsoft.com/office/drawing/2014/main" id="{D5F62842-FE72-4720-BD26-76539D46C83D}"/>
              </a:ext>
            </a:extLst>
          </p:cNvPr>
          <p:cNvSpPr>
            <a:spLocks noGrp="1"/>
          </p:cNvSpPr>
          <p:nvPr>
            <p:ph idx="1"/>
          </p:nvPr>
        </p:nvSpPr>
        <p:spPr>
          <a:xfrm>
            <a:off x="2753359" y="2913529"/>
            <a:ext cx="7962266" cy="2249021"/>
          </a:xfrm>
        </p:spPr>
        <p:txBody>
          <a:bodyPr>
            <a:normAutofit fontScale="70000" lnSpcReduction="20000"/>
          </a:bodyPr>
          <a:lstStyle/>
          <a:p>
            <a:pPr marL="571500" indent="-571500">
              <a:buAutoNum type="romanUcPeriod"/>
            </a:pPr>
            <a:r>
              <a:rPr lang="fr-FR" sz="3200" dirty="0"/>
              <a:t>Qu’est-ce que (la, le, les) politique(s)s? </a:t>
            </a:r>
          </a:p>
          <a:p>
            <a:pPr marL="0" indent="0">
              <a:buNone/>
            </a:pPr>
            <a:r>
              <a:rPr lang="fr-FR" sz="3200" dirty="0"/>
              <a:t>			Le concept de </a:t>
            </a:r>
            <a:r>
              <a:rPr lang="fr-FR" sz="3200" i="1" dirty="0"/>
              <a:t>politisation</a:t>
            </a:r>
          </a:p>
          <a:p>
            <a:pPr marL="571500" indent="-571500">
              <a:buAutoNum type="romanUcPeriod"/>
            </a:pPr>
            <a:r>
              <a:rPr lang="fr-FR" sz="3200" dirty="0"/>
              <a:t>Les conditions scientifiques préalables à l’analyse empirique</a:t>
            </a:r>
          </a:p>
          <a:p>
            <a:pPr marL="571500" indent="-571500">
              <a:buAutoNum type="romanUcPeriod"/>
            </a:pPr>
            <a:r>
              <a:rPr lang="fr-FR" sz="3200" dirty="0"/>
              <a:t>Des cas empiriques sur des questions classiques de la science politique empirique</a:t>
            </a:r>
          </a:p>
          <a:p>
            <a:pPr marL="571500" indent="-571500">
              <a:buAutoNum type="romanUcPeriod"/>
            </a:pPr>
            <a:endParaRPr lang="fr-FR" sz="3200" dirty="0"/>
          </a:p>
        </p:txBody>
      </p:sp>
      <p:pic>
        <p:nvPicPr>
          <p:cNvPr id="5" name="Imag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96557" y="5739754"/>
            <a:ext cx="1495425"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 6">
            <a:extLst>
              <a:ext uri="{FF2B5EF4-FFF2-40B4-BE49-F238E27FC236}">
                <a16:creationId xmlns:a16="http://schemas.microsoft.com/office/drawing/2014/main" id="{25C85488-9DE5-4F1E-B6A6-5138A141523B}"/>
              </a:ext>
            </a:extLst>
          </p:cNvPr>
          <p:cNvPicPr/>
          <p:nvPr/>
        </p:nvPicPr>
        <p:blipFill>
          <a:blip r:embed="rId3"/>
          <a:stretch>
            <a:fillRect/>
          </a:stretch>
        </p:blipFill>
        <p:spPr>
          <a:xfrm>
            <a:off x="624046" y="5557521"/>
            <a:ext cx="2129313" cy="880236"/>
          </a:xfrm>
          <a:prstGeom prst="rect">
            <a:avLst/>
          </a:prstGeom>
        </p:spPr>
      </p:pic>
    </p:spTree>
    <p:extLst>
      <p:ext uri="{BB962C8B-B14F-4D97-AF65-F5344CB8AC3E}">
        <p14:creationId xmlns:p14="http://schemas.microsoft.com/office/powerpoint/2010/main" val="4065726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C0151FE0-9BBF-479A-B87E-F7583C1A2B5E}"/>
              </a:ext>
            </a:extLst>
          </p:cNvPr>
          <p:cNvSpPr txBox="1"/>
          <p:nvPr/>
        </p:nvSpPr>
        <p:spPr>
          <a:xfrm>
            <a:off x="3048000" y="3105835"/>
            <a:ext cx="6096000" cy="2554545"/>
          </a:xfrm>
          <a:prstGeom prst="rect">
            <a:avLst/>
          </a:prstGeom>
          <a:noFill/>
        </p:spPr>
        <p:txBody>
          <a:bodyPr wrap="square">
            <a:spAutoFit/>
          </a:bodyPr>
          <a:lstStyle/>
          <a:p>
            <a:pPr marL="571500" indent="-571500">
              <a:buAutoNum type="romanUcPeriod"/>
            </a:pPr>
            <a:r>
              <a:rPr lang="fr-FR" sz="3200" dirty="0"/>
              <a:t>Qu’est-ce que (la, le, les) politique(s)s? </a:t>
            </a:r>
          </a:p>
          <a:p>
            <a:r>
              <a:rPr lang="fr-FR" sz="3200" dirty="0"/>
              <a:t>	Le concept de </a:t>
            </a:r>
            <a:r>
              <a:rPr lang="fr-FR" sz="3200" i="1" dirty="0"/>
              <a:t>politisation</a:t>
            </a:r>
          </a:p>
          <a:p>
            <a:endParaRPr lang="fr-FR" sz="3200" i="1" dirty="0"/>
          </a:p>
          <a:p>
            <a:endParaRPr lang="fr-FR" sz="3200" i="1" dirty="0"/>
          </a:p>
        </p:txBody>
      </p:sp>
    </p:spTree>
    <p:extLst>
      <p:ext uri="{BB962C8B-B14F-4D97-AF65-F5344CB8AC3E}">
        <p14:creationId xmlns:p14="http://schemas.microsoft.com/office/powerpoint/2010/main" val="319381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6364DD-29EB-44F0-A1A8-B9CCCD6D9EF9}"/>
              </a:ext>
            </a:extLst>
          </p:cNvPr>
          <p:cNvSpPr>
            <a:spLocks noGrp="1"/>
          </p:cNvSpPr>
          <p:nvPr>
            <p:ph type="title"/>
          </p:nvPr>
        </p:nvSpPr>
        <p:spPr>
          <a:xfrm>
            <a:off x="888631" y="-123824"/>
            <a:ext cx="10046069" cy="2346112"/>
          </a:xfrm>
        </p:spPr>
        <p:txBody>
          <a:bodyPr>
            <a:normAutofit fontScale="90000"/>
          </a:bodyPr>
          <a:lstStyle/>
          <a:p>
            <a:r>
              <a:rPr lang="fr-FR" sz="4400" dirty="0"/>
              <a:t>I. Qu’est-ce que (la, le, les) politique(s)s? Le concept de </a:t>
            </a:r>
            <a:r>
              <a:rPr lang="fr-FR" sz="4400" i="1" dirty="0"/>
              <a:t>politisation</a:t>
            </a:r>
            <a:br>
              <a:rPr lang="fr-FR" sz="4400" i="1" dirty="0"/>
            </a:br>
            <a:endParaRPr lang="fr-FR" dirty="0"/>
          </a:p>
        </p:txBody>
      </p:sp>
      <p:sp>
        <p:nvSpPr>
          <p:cNvPr id="3" name="Espace réservé du contenu 2">
            <a:extLst>
              <a:ext uri="{FF2B5EF4-FFF2-40B4-BE49-F238E27FC236}">
                <a16:creationId xmlns:a16="http://schemas.microsoft.com/office/drawing/2014/main" id="{7A7F8221-FA6C-4E9B-A2F4-0854CF1ED348}"/>
              </a:ext>
            </a:extLst>
          </p:cNvPr>
          <p:cNvSpPr>
            <a:spLocks noGrp="1"/>
          </p:cNvSpPr>
          <p:nvPr>
            <p:ph idx="1"/>
          </p:nvPr>
        </p:nvSpPr>
        <p:spPr>
          <a:xfrm>
            <a:off x="818712" y="2533649"/>
            <a:ext cx="10554574" cy="3686175"/>
          </a:xfrm>
        </p:spPr>
        <p:txBody>
          <a:bodyPr>
            <a:normAutofit fontScale="92500" lnSpcReduction="10000"/>
          </a:bodyPr>
          <a:lstStyle/>
          <a:p>
            <a:r>
              <a:rPr lang="fr-FR" dirty="0"/>
              <a:t>Que signifie la politique?</a:t>
            </a:r>
          </a:p>
          <a:p>
            <a:r>
              <a:rPr lang="fr-FR" dirty="0"/>
              <a:t>Trois acceptions</a:t>
            </a:r>
          </a:p>
          <a:p>
            <a:r>
              <a:rPr lang="fr-FR" dirty="0"/>
              <a:t>Quels sont les acteurs qui participent à la </a:t>
            </a:r>
            <a:r>
              <a:rPr lang="fr-FR" i="1" dirty="0"/>
              <a:t>politisation</a:t>
            </a:r>
            <a:r>
              <a:rPr lang="fr-FR" dirty="0"/>
              <a:t> ?</a:t>
            </a:r>
          </a:p>
          <a:p>
            <a:r>
              <a:rPr lang="fr-FR" dirty="0"/>
              <a:t>Problèmes publics, sociaux, politiques</a:t>
            </a:r>
          </a:p>
          <a:p>
            <a:r>
              <a:rPr lang="fr-FR" dirty="0"/>
              <a:t>Les gouvernants: oligarchie et le danger du complotisme</a:t>
            </a:r>
          </a:p>
          <a:p>
            <a:r>
              <a:rPr lang="fr-FR" dirty="0"/>
              <a:t>Les gouvernés: les mystères des opinions politiques</a:t>
            </a:r>
          </a:p>
          <a:p>
            <a:pPr marL="342900" lvl="0" indent="-342900" algn="just">
              <a:buFont typeface="Arial" panose="020B0604020202020204" pitchFamily="34" charset="0"/>
              <a:buChar char="•"/>
            </a:pPr>
            <a:r>
              <a:rPr lang="fr-FR" sz="1800" b="1" kern="150" dirty="0" err="1">
                <a:effectLst/>
                <a:ea typeface="OpenSymbol"/>
                <a:cs typeface="OpenSymbol"/>
              </a:rPr>
              <a:t>Polity</a:t>
            </a:r>
            <a:r>
              <a:rPr lang="fr-FR" sz="1800" kern="150" dirty="0">
                <a:effectLst/>
                <a:ea typeface="OpenSymbol"/>
                <a:cs typeface="OpenSymbol"/>
              </a:rPr>
              <a:t> : ce qui relève du champ politique, du gouvernement, de la société</a:t>
            </a:r>
          </a:p>
          <a:p>
            <a:pPr marL="342900" lvl="0" indent="-342900" algn="just">
              <a:buFont typeface="Arial" panose="020B0604020202020204" pitchFamily="34" charset="0"/>
              <a:buChar char="•"/>
            </a:pPr>
            <a:r>
              <a:rPr lang="fr-FR" sz="1800" b="1" kern="150" dirty="0" err="1">
                <a:effectLst/>
                <a:ea typeface="OpenSymbol"/>
                <a:cs typeface="OpenSymbol"/>
              </a:rPr>
              <a:t>Politics</a:t>
            </a:r>
            <a:r>
              <a:rPr lang="fr-FR" sz="1800" kern="150" dirty="0">
                <a:effectLst/>
                <a:ea typeface="OpenSymbol"/>
                <a:cs typeface="OpenSymbol"/>
              </a:rPr>
              <a:t> : les mécanismes qui contribuent a désigner les représentants politiques</a:t>
            </a:r>
          </a:p>
          <a:p>
            <a:pPr marL="342900" lvl="0" indent="-342900" algn="just">
              <a:buFont typeface="Arial" panose="020B0604020202020204" pitchFamily="34" charset="0"/>
              <a:buChar char="•"/>
            </a:pPr>
            <a:r>
              <a:rPr lang="fr-FR" sz="1800" b="1" kern="150" dirty="0" err="1">
                <a:effectLst/>
                <a:ea typeface="OpenSymbol"/>
                <a:cs typeface="OpenSymbol"/>
              </a:rPr>
              <a:t>Policies</a:t>
            </a:r>
            <a:r>
              <a:rPr lang="fr-FR" sz="1800" kern="150" dirty="0">
                <a:effectLst/>
                <a:ea typeface="OpenSymbol"/>
                <a:cs typeface="OpenSymbol"/>
              </a:rPr>
              <a:t> : les politiques publiques, les actions publiques, l’ensemble des mesures concrètes qui sont prises par un gouvernement en vue de résoudre un problème.</a:t>
            </a:r>
          </a:p>
          <a:p>
            <a:endParaRPr lang="fr-FR" dirty="0"/>
          </a:p>
        </p:txBody>
      </p:sp>
    </p:spTree>
    <p:extLst>
      <p:ext uri="{BB962C8B-B14F-4D97-AF65-F5344CB8AC3E}">
        <p14:creationId xmlns:p14="http://schemas.microsoft.com/office/powerpoint/2010/main" val="390067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15D804-07CC-4EFF-ADF9-3E497B71D592}"/>
              </a:ext>
            </a:extLst>
          </p:cNvPr>
          <p:cNvSpPr>
            <a:spLocks noGrp="1"/>
          </p:cNvSpPr>
          <p:nvPr>
            <p:ph type="title"/>
          </p:nvPr>
        </p:nvSpPr>
        <p:spPr>
          <a:xfrm>
            <a:off x="838200" y="508000"/>
            <a:ext cx="10515600" cy="1325563"/>
          </a:xfrm>
        </p:spPr>
        <p:txBody>
          <a:bodyPr>
            <a:normAutofit fontScale="90000"/>
          </a:bodyPr>
          <a:lstStyle/>
          <a:p>
            <a:r>
              <a:rPr lang="fr-FR" sz="4400" b="1" dirty="0"/>
              <a:t>II. Les conditions </a:t>
            </a:r>
            <a:r>
              <a:rPr lang="fr-FR" b="1" dirty="0"/>
              <a:t>de</a:t>
            </a:r>
            <a:r>
              <a:rPr lang="fr-FR" sz="4400" b="1" dirty="0"/>
              <a:t> l’analyse scientifique du « politique » (ou plutôt de la politisation »</a:t>
            </a:r>
            <a:endParaRPr lang="fr-FR" dirty="0"/>
          </a:p>
        </p:txBody>
      </p:sp>
      <p:sp>
        <p:nvSpPr>
          <p:cNvPr id="3" name="Espace réservé du contenu 2">
            <a:extLst>
              <a:ext uri="{FF2B5EF4-FFF2-40B4-BE49-F238E27FC236}">
                <a16:creationId xmlns:a16="http://schemas.microsoft.com/office/drawing/2014/main" id="{0BCA1A9D-0436-43E7-8922-4F1CBB6EAB87}"/>
              </a:ext>
            </a:extLst>
          </p:cNvPr>
          <p:cNvSpPr>
            <a:spLocks noGrp="1"/>
          </p:cNvSpPr>
          <p:nvPr>
            <p:ph idx="1"/>
          </p:nvPr>
        </p:nvSpPr>
        <p:spPr>
          <a:xfrm>
            <a:off x="838200" y="2733675"/>
            <a:ext cx="10515600" cy="3443288"/>
          </a:xfrm>
        </p:spPr>
        <p:txBody>
          <a:bodyPr/>
          <a:lstStyle/>
          <a:p>
            <a:r>
              <a:rPr lang="fr-FR" dirty="0"/>
              <a:t>1. La </a:t>
            </a:r>
            <a:r>
              <a:rPr lang="fr-FR" i="1" dirty="0"/>
              <a:t>construction sociologique </a:t>
            </a:r>
            <a:r>
              <a:rPr lang="fr-FR" dirty="0"/>
              <a:t>de l’objet politique</a:t>
            </a:r>
          </a:p>
          <a:p>
            <a:r>
              <a:rPr lang="fr-FR" dirty="0"/>
              <a:t>2. Le problème des </a:t>
            </a:r>
            <a:r>
              <a:rPr lang="fr-FR" i="1" dirty="0"/>
              <a:t>valeurs</a:t>
            </a:r>
          </a:p>
          <a:p>
            <a:r>
              <a:rPr lang="fr-FR" dirty="0"/>
              <a:t>3. Expliquer/comprendre mais prouver</a:t>
            </a:r>
          </a:p>
          <a:p>
            <a:r>
              <a:rPr lang="fr-FR" dirty="0"/>
              <a:t>4. Expliquer/comprendre: le diable de </a:t>
            </a:r>
            <a:r>
              <a:rPr lang="fr-FR" i="1" dirty="0"/>
              <a:t>l’agentivité</a:t>
            </a:r>
          </a:p>
        </p:txBody>
      </p:sp>
    </p:spTree>
    <p:extLst>
      <p:ext uri="{BB962C8B-B14F-4D97-AF65-F5344CB8AC3E}">
        <p14:creationId xmlns:p14="http://schemas.microsoft.com/office/powerpoint/2010/main" val="3871662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0A1A85-1A86-45FE-A828-8D94F3175AF9}"/>
              </a:ext>
            </a:extLst>
          </p:cNvPr>
          <p:cNvSpPr>
            <a:spLocks noGrp="1"/>
          </p:cNvSpPr>
          <p:nvPr>
            <p:ph type="title"/>
          </p:nvPr>
        </p:nvSpPr>
        <p:spPr>
          <a:xfrm>
            <a:off x="810000" y="647700"/>
            <a:ext cx="10571998" cy="769938"/>
          </a:xfrm>
        </p:spPr>
        <p:txBody>
          <a:bodyPr>
            <a:normAutofit fontScale="90000"/>
          </a:bodyPr>
          <a:lstStyle/>
          <a:p>
            <a:br>
              <a:rPr lang="fr-FR" b="1" dirty="0"/>
            </a:br>
            <a:r>
              <a:rPr lang="fr-FR" sz="3100" b="1" dirty="0"/>
              <a:t>1. La construction sociologique de l’objet politique :</a:t>
            </a:r>
            <a:br>
              <a:rPr lang="fr-FR" b="1" dirty="0"/>
            </a:br>
            <a:endParaRPr lang="fr-FR" dirty="0"/>
          </a:p>
        </p:txBody>
      </p:sp>
      <p:sp>
        <p:nvSpPr>
          <p:cNvPr id="3" name="Espace réservé du contenu 2">
            <a:extLst>
              <a:ext uri="{FF2B5EF4-FFF2-40B4-BE49-F238E27FC236}">
                <a16:creationId xmlns:a16="http://schemas.microsoft.com/office/drawing/2014/main" id="{CBADFD1F-5C54-44E6-9558-3A3E212C9CA1}"/>
              </a:ext>
            </a:extLst>
          </p:cNvPr>
          <p:cNvSpPr>
            <a:spLocks noGrp="1"/>
          </p:cNvSpPr>
          <p:nvPr>
            <p:ph idx="1"/>
          </p:nvPr>
        </p:nvSpPr>
        <p:spPr/>
        <p:txBody>
          <a:bodyPr>
            <a:normAutofit/>
          </a:bodyPr>
          <a:lstStyle/>
          <a:p>
            <a:pPr lvl="0"/>
            <a:r>
              <a:rPr lang="fr-FR" dirty="0"/>
              <a:t>Petite pique contre les politologues…</a:t>
            </a:r>
          </a:p>
          <a:p>
            <a:r>
              <a:rPr lang="fr-FR" dirty="0"/>
              <a:t>Science politique = science sociale qui repose sur épistémologie de la sociologie </a:t>
            </a:r>
          </a:p>
          <a:p>
            <a:pPr marL="0" indent="0">
              <a:buNone/>
            </a:pPr>
            <a:r>
              <a:rPr lang="fr-FR" dirty="0"/>
              <a:t>	(faits empiriques, discours positif).</a:t>
            </a:r>
          </a:p>
          <a:p>
            <a:r>
              <a:rPr lang="fr-FR" i="1" dirty="0"/>
              <a:t>L’objet social n’est pas l’objet sociologique</a:t>
            </a:r>
            <a:r>
              <a:rPr lang="fr-FR" dirty="0"/>
              <a:t>, lequel est construit par le chercheur (</a:t>
            </a:r>
            <a:r>
              <a:rPr lang="fr-FR" i="1" dirty="0"/>
              <a:t>Asiles</a:t>
            </a:r>
            <a:r>
              <a:rPr lang="fr-FR" dirty="0"/>
              <a:t>, de Goffman, interactionnisme symbolique). Ex: montée en généralité et analogie avec prisons, couvents, institutions d’enfermement, institutions « totales ». </a:t>
            </a:r>
          </a:p>
          <a:p>
            <a:r>
              <a:rPr lang="fr-FR" i="1" dirty="0"/>
              <a:t>Rupture avec le sens commun </a:t>
            </a:r>
            <a:r>
              <a:rPr lang="fr-FR" dirty="0"/>
              <a:t>(cad la familiarité avec l’objet à étudier dans lequel nous sommes pris, le fait social (et donc politique)). </a:t>
            </a:r>
          </a:p>
          <a:p>
            <a:r>
              <a:rPr lang="fr-FR" dirty="0"/>
              <a:t>« Traiter les faits sociaux comme des choses » Durkheim. </a:t>
            </a:r>
          </a:p>
          <a:p>
            <a:endParaRPr lang="fr-FR" dirty="0"/>
          </a:p>
        </p:txBody>
      </p:sp>
    </p:spTree>
    <p:extLst>
      <p:ext uri="{BB962C8B-B14F-4D97-AF65-F5344CB8AC3E}">
        <p14:creationId xmlns:p14="http://schemas.microsoft.com/office/powerpoint/2010/main" val="3435033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251822-8266-4BE7-9972-BFD9B890D4AA}"/>
              </a:ext>
            </a:extLst>
          </p:cNvPr>
          <p:cNvSpPr>
            <a:spLocks noGrp="1"/>
          </p:cNvSpPr>
          <p:nvPr>
            <p:ph type="ctrTitle"/>
          </p:nvPr>
        </p:nvSpPr>
        <p:spPr>
          <a:xfrm>
            <a:off x="1524000" y="638175"/>
            <a:ext cx="9144000" cy="5953125"/>
          </a:xfrm>
        </p:spPr>
        <p:txBody>
          <a:bodyPr>
            <a:noAutofit/>
          </a:bodyPr>
          <a:lstStyle/>
          <a:p>
            <a:br>
              <a:rPr lang="fr-FR" sz="2400" b="1" dirty="0"/>
            </a:br>
            <a:br>
              <a:rPr lang="fr-FR" sz="2400" b="1" dirty="0"/>
            </a:br>
            <a:br>
              <a:rPr lang="fr-FR" sz="1000" dirty="0"/>
            </a:br>
            <a:br>
              <a:rPr lang="fr-FR" sz="1000" dirty="0"/>
            </a:br>
            <a:br>
              <a:rPr lang="fr-FR" sz="1000" dirty="0"/>
            </a:br>
            <a:br>
              <a:rPr lang="fr-FR" sz="1000" dirty="0"/>
            </a:br>
            <a:br>
              <a:rPr lang="fr-FR" sz="1000" dirty="0"/>
            </a:br>
            <a:br>
              <a:rPr lang="fr-FR" sz="2400" b="1" dirty="0"/>
            </a:br>
            <a:br>
              <a:rPr lang="fr-FR" sz="2400" b="1" dirty="0"/>
            </a:br>
            <a:br>
              <a:rPr lang="fr-FR" sz="2400" b="1" dirty="0"/>
            </a:br>
            <a:r>
              <a:rPr lang="fr-FR" sz="3200" b="1" dirty="0"/>
              <a:t>2. Da</a:t>
            </a:r>
            <a:r>
              <a:rPr lang="fr-FR" sz="3200" dirty="0"/>
              <a:t>ns la construction, premier big </a:t>
            </a:r>
            <a:r>
              <a:rPr lang="fr-FR" sz="3200" dirty="0" err="1"/>
              <a:t>problem</a:t>
            </a:r>
            <a:r>
              <a:rPr lang="fr-FR" sz="3200" dirty="0"/>
              <a:t>: l</a:t>
            </a:r>
            <a:r>
              <a:rPr lang="fr-FR" sz="3200" b="1" dirty="0"/>
              <a:t>e problème des valeurs</a:t>
            </a:r>
            <a:br>
              <a:rPr lang="fr-FR" sz="2400" b="1" dirty="0"/>
            </a:br>
            <a:br>
              <a:rPr lang="fr-FR" sz="2400" b="1" dirty="0"/>
            </a:br>
            <a:r>
              <a:rPr lang="fr-FR" sz="1800" i="1" dirty="0"/>
              <a:t>Jugement de valeur (VS neutralité axiologique) et rapport aux valeurs (compréhension wébérienne). </a:t>
            </a:r>
            <a:br>
              <a:rPr lang="fr-FR" sz="1800" i="1" dirty="0"/>
            </a:br>
            <a:br>
              <a:rPr lang="fr-FR" sz="1800" dirty="0"/>
            </a:br>
            <a:r>
              <a:rPr lang="fr-FR" sz="1800" dirty="0"/>
              <a:t>Jugements de valeurs légitimes selon Léo Strauss : ce qu’il y a d’insupportable  dans l’approche scientifique du sociologue empiriste c’est précisément la suspension du jugement de valeur (exemple du camp de concentration, pb du relativisme).</a:t>
            </a:r>
            <a:br>
              <a:rPr lang="fr-FR" sz="1800" dirty="0"/>
            </a:br>
            <a:br>
              <a:rPr lang="fr-FR" sz="1800" b="1" dirty="0"/>
            </a:br>
            <a:br>
              <a:rPr lang="fr-FR" dirty="0"/>
            </a:br>
            <a:br>
              <a:rPr lang="fr-FR" sz="2400" dirty="0"/>
            </a:br>
            <a:endParaRPr lang="fr-FR" sz="2400" dirty="0"/>
          </a:p>
        </p:txBody>
      </p:sp>
      <p:sp>
        <p:nvSpPr>
          <p:cNvPr id="3" name="Sous-titre 2">
            <a:extLst>
              <a:ext uri="{FF2B5EF4-FFF2-40B4-BE49-F238E27FC236}">
                <a16:creationId xmlns:a16="http://schemas.microsoft.com/office/drawing/2014/main" id="{39CF5364-0145-4B07-B4C7-592727F44D1A}"/>
              </a:ext>
            </a:extLst>
          </p:cNvPr>
          <p:cNvSpPr>
            <a:spLocks noGrp="1"/>
          </p:cNvSpPr>
          <p:nvPr>
            <p:ph type="subTitle" idx="1"/>
          </p:nvPr>
        </p:nvSpPr>
        <p:spPr>
          <a:xfrm>
            <a:off x="1524000" y="6965575"/>
            <a:ext cx="9144000" cy="286871"/>
          </a:xfrm>
        </p:spPr>
        <p:txBody>
          <a:bodyPr>
            <a:normAutofit fontScale="62500" lnSpcReduction="20000"/>
          </a:bodyPr>
          <a:lstStyle/>
          <a:p>
            <a:endParaRPr lang="fr-FR" sz="2600" dirty="0">
              <a:latin typeface="+mj-lt"/>
            </a:endParaRPr>
          </a:p>
        </p:txBody>
      </p:sp>
    </p:spTree>
    <p:extLst>
      <p:ext uri="{BB962C8B-B14F-4D97-AF65-F5344CB8AC3E}">
        <p14:creationId xmlns:p14="http://schemas.microsoft.com/office/powerpoint/2010/main" val="4076819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FAA74A-7958-4C27-A611-F4F776D33C65}"/>
              </a:ext>
            </a:extLst>
          </p:cNvPr>
          <p:cNvSpPr>
            <a:spLocks noGrp="1"/>
          </p:cNvSpPr>
          <p:nvPr>
            <p:ph type="ctrTitle"/>
          </p:nvPr>
        </p:nvSpPr>
        <p:spPr>
          <a:xfrm>
            <a:off x="810001" y="1449147"/>
            <a:ext cx="10572000" cy="3322878"/>
          </a:xfrm>
        </p:spPr>
        <p:txBody>
          <a:bodyPr/>
          <a:lstStyle/>
          <a:p>
            <a:r>
              <a:rPr lang="fr-FR" sz="1800" b="1" dirty="0"/>
              <a:t>La théorie politique prend en compte les répertoires qui ordonnent le légitime et l’illégitime.</a:t>
            </a:r>
            <a:br>
              <a:rPr lang="fr-FR" sz="1800" dirty="0"/>
            </a:br>
            <a:br>
              <a:rPr lang="fr-FR" sz="1800" dirty="0"/>
            </a:br>
            <a:r>
              <a:rPr lang="fr-FR" sz="1800" dirty="0"/>
              <a:t>La théorie politique permet de saisir les cadres normatifs de l’action, cad la distinction de légitime et d’illégitime dans le cadre de l’action politique, cad dans le jeu des acteurs, qui donnent une table du pensable et de l’impensable, du faisable de l’infaisable etc. </a:t>
            </a:r>
            <a:br>
              <a:rPr lang="fr-FR" sz="1800" dirty="0"/>
            </a:br>
            <a:br>
              <a:rPr lang="fr-FR" sz="1800" dirty="0"/>
            </a:br>
            <a:r>
              <a:rPr lang="fr-FR" sz="1800" b="1" dirty="0"/>
              <a:t>Les cadres de pensées dans lesquels s’inscrivent les processus politiques :</a:t>
            </a:r>
            <a:br>
              <a:rPr lang="fr-FR" sz="1800" b="1" dirty="0"/>
            </a:br>
            <a:br>
              <a:rPr lang="fr-FR" sz="1800" b="1" dirty="0"/>
            </a:br>
            <a:r>
              <a:rPr lang="fr-FR" sz="1800" dirty="0"/>
              <a:t>Exemple des théories de la participation et de la mobilisation.</a:t>
            </a:r>
            <a:br>
              <a:rPr lang="fr-FR" sz="1800" dirty="0"/>
            </a:br>
            <a:r>
              <a:rPr lang="fr-FR" sz="1800" dirty="0"/>
              <a:t>Exemple des liens entre chômage et comportement politiques : sur un plan normatif aucune idéologie politique disponible ne donne de légitimité à un individu sans travail, ni libéralisme, ni socialisme, ni catholicisme : le travail est toujours l’accomplissement de la nature humaine. Le sans-travail ne pourrait pas se penser dans le jeu politique.</a:t>
            </a:r>
            <a:br>
              <a:rPr lang="fr-FR" sz="1800" dirty="0"/>
            </a:br>
            <a:r>
              <a:rPr lang="fr-FR" sz="1800" dirty="0"/>
              <a:t>Exemple des théories de la représentation : un « mandat » qui n’est plus impératif et qui pose la question de la liberté du représentant vis-à-vis du représenté. </a:t>
            </a:r>
            <a:br>
              <a:rPr lang="fr-FR" sz="1800" dirty="0"/>
            </a:br>
            <a:r>
              <a:rPr lang="fr-FR" sz="1800" dirty="0"/>
              <a:t> </a:t>
            </a:r>
            <a:br>
              <a:rPr lang="fr-FR" sz="1800" dirty="0"/>
            </a:br>
            <a:endParaRPr lang="fr-FR" sz="1800" dirty="0"/>
          </a:p>
        </p:txBody>
      </p:sp>
      <p:sp>
        <p:nvSpPr>
          <p:cNvPr id="3" name="Sous-titre 2">
            <a:extLst>
              <a:ext uri="{FF2B5EF4-FFF2-40B4-BE49-F238E27FC236}">
                <a16:creationId xmlns:a16="http://schemas.microsoft.com/office/drawing/2014/main" id="{24CAC145-6BF3-48C5-8E71-07E97E604913}"/>
              </a:ext>
            </a:extLst>
          </p:cNvPr>
          <p:cNvSpPr>
            <a:spLocks noGrp="1"/>
          </p:cNvSpPr>
          <p:nvPr>
            <p:ph type="subTitle" idx="1"/>
          </p:nvPr>
        </p:nvSpPr>
        <p:spPr/>
        <p:txBody>
          <a:bodyPr/>
          <a:lstStyle/>
          <a:p>
            <a:r>
              <a:rPr lang="fr-FR" sz="1800" b="1" i="1" dirty="0"/>
              <a:t>Le contexte culturel de la science politique aujourd’hui: </a:t>
            </a:r>
            <a:r>
              <a:rPr lang="fr-FR" sz="1800" b="1" i="1" dirty="0" err="1"/>
              <a:t>gender</a:t>
            </a:r>
            <a:r>
              <a:rPr lang="fr-FR" sz="1800" b="1" i="1" dirty="0"/>
              <a:t> </a:t>
            </a:r>
            <a:r>
              <a:rPr lang="fr-FR" sz="1800" b="1" i="1" dirty="0" err="1"/>
              <a:t>studies</a:t>
            </a:r>
            <a:r>
              <a:rPr lang="fr-FR" sz="1800" b="1" i="1" dirty="0"/>
              <a:t>, cultural </a:t>
            </a:r>
            <a:r>
              <a:rPr lang="fr-FR" sz="1800" b="1" i="1" dirty="0" err="1"/>
              <a:t>studies</a:t>
            </a:r>
            <a:r>
              <a:rPr lang="fr-FR" sz="1800" b="1" i="1" dirty="0"/>
              <a:t>, … </a:t>
            </a:r>
            <a:endParaRPr lang="fr-FR" dirty="0"/>
          </a:p>
        </p:txBody>
      </p:sp>
    </p:spTree>
    <p:extLst>
      <p:ext uri="{BB962C8B-B14F-4D97-AF65-F5344CB8AC3E}">
        <p14:creationId xmlns:p14="http://schemas.microsoft.com/office/powerpoint/2010/main" val="1495693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46075"/>
            <a:ext cx="10515600" cy="1325563"/>
          </a:xfrm>
        </p:spPr>
        <p:txBody>
          <a:bodyPr>
            <a:normAutofit/>
          </a:bodyPr>
          <a:lstStyle/>
          <a:p>
            <a:r>
              <a:rPr lang="fr-FR" sz="3200" dirty="0"/>
              <a:t>	3. </a:t>
            </a:r>
            <a:r>
              <a:rPr lang="fr-FR" sz="3200" b="1" dirty="0"/>
              <a:t>Expliquer/comprendre mais prouver</a:t>
            </a:r>
          </a:p>
        </p:txBody>
      </p:sp>
      <p:sp>
        <p:nvSpPr>
          <p:cNvPr id="3" name="Espace réservé du contenu 2"/>
          <p:cNvSpPr>
            <a:spLocks noGrp="1"/>
          </p:cNvSpPr>
          <p:nvPr>
            <p:ph idx="1"/>
          </p:nvPr>
        </p:nvSpPr>
        <p:spPr/>
        <p:txBody>
          <a:bodyPr>
            <a:normAutofit/>
          </a:bodyPr>
          <a:lstStyle/>
          <a:p>
            <a:r>
              <a:rPr lang="fr-FR" dirty="0"/>
              <a:t>La méthode expérimentale: le Suicide de Durkheim</a:t>
            </a:r>
          </a:p>
          <a:p>
            <a:r>
              <a:rPr lang="fr-FR" dirty="0"/>
              <a:t>La méthode idéal-typique: de l’importance des configurations socio-historiques et du micro social</a:t>
            </a:r>
          </a:p>
          <a:p>
            <a:r>
              <a:rPr lang="fr-FR" dirty="0"/>
              <a:t>L’exemple d’un objet limite: la violence politique (en Espagne)</a:t>
            </a:r>
          </a:p>
          <a:p>
            <a:r>
              <a:rPr lang="fr-FR" dirty="0"/>
              <a:t>Les données disponibles</a:t>
            </a:r>
          </a:p>
          <a:p>
            <a:r>
              <a:rPr lang="fr-FR" dirty="0"/>
              <a:t>Chercher le « petit », le </a:t>
            </a:r>
            <a:r>
              <a:rPr lang="fr-FR" dirty="0" err="1"/>
              <a:t>vraissemblable</a:t>
            </a:r>
            <a:endParaRPr lang="fr-FR" dirty="0"/>
          </a:p>
        </p:txBody>
      </p:sp>
    </p:spTree>
    <p:extLst>
      <p:ext uri="{BB962C8B-B14F-4D97-AF65-F5344CB8AC3E}">
        <p14:creationId xmlns:p14="http://schemas.microsoft.com/office/powerpoint/2010/main" val="1731760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26188F4F-1BF3-4AA4-BAC5-4C751477490A}"/>
              </a:ext>
            </a:extLst>
          </p:cNvPr>
          <p:cNvPicPr>
            <a:picLocks noChangeAspect="1"/>
          </p:cNvPicPr>
          <p:nvPr/>
        </p:nvPicPr>
        <p:blipFill>
          <a:blip r:embed="rId2"/>
          <a:stretch>
            <a:fillRect/>
          </a:stretch>
        </p:blipFill>
        <p:spPr>
          <a:xfrm>
            <a:off x="1198156" y="0"/>
            <a:ext cx="9795688" cy="6858000"/>
          </a:xfrm>
          <a:prstGeom prst="rect">
            <a:avLst/>
          </a:prstGeom>
        </p:spPr>
      </p:pic>
    </p:spTree>
    <p:extLst>
      <p:ext uri="{BB962C8B-B14F-4D97-AF65-F5344CB8AC3E}">
        <p14:creationId xmlns:p14="http://schemas.microsoft.com/office/powerpoint/2010/main" val="514216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200" dirty="0"/>
              <a:t>	4. </a:t>
            </a:r>
            <a:r>
              <a:rPr lang="fr-FR" sz="3200" b="1" dirty="0"/>
              <a:t>Expliquer/comprendre: le problème de l’agentivité</a:t>
            </a:r>
          </a:p>
        </p:txBody>
      </p:sp>
      <p:sp>
        <p:nvSpPr>
          <p:cNvPr id="3" name="Espace réservé du contenu 2"/>
          <p:cNvSpPr>
            <a:spLocks noGrp="1"/>
          </p:cNvSpPr>
          <p:nvPr>
            <p:ph idx="1"/>
          </p:nvPr>
        </p:nvSpPr>
        <p:spPr/>
        <p:txBody>
          <a:bodyPr>
            <a:normAutofit/>
          </a:bodyPr>
          <a:lstStyle/>
          <a:p>
            <a:r>
              <a:rPr lang="fr-FR" b="1" u="sng" dirty="0"/>
              <a:t>L’agentivité</a:t>
            </a:r>
            <a:r>
              <a:rPr lang="fr-FR" b="1" dirty="0"/>
              <a:t> est un biais cognitif ou biais d’intentionnalité (empêche de penser correctement, détourne et donne une mauvaise image). </a:t>
            </a:r>
          </a:p>
          <a:p>
            <a:r>
              <a:rPr lang="fr-FR" dirty="0"/>
              <a:t>Ce n’est pas une maladie ou encore une pathologie mais simplement une tendance assez naturelle de l‘esprit humain, tendance très puissante.</a:t>
            </a:r>
          </a:p>
          <a:p>
            <a:r>
              <a:rPr lang="fr-FR" dirty="0"/>
              <a:t>Lorsque l’on </a:t>
            </a:r>
            <a:r>
              <a:rPr lang="fr-FR" u="sng" dirty="0"/>
              <a:t>observe ce qu’il se passe dans le monde social et les phénomènes sociaux</a:t>
            </a:r>
            <a:r>
              <a:rPr lang="fr-FR" dirty="0"/>
              <a:t> et que l’on </a:t>
            </a:r>
            <a:r>
              <a:rPr lang="fr-FR" u="sng" dirty="0"/>
              <a:t>essaie d’interpréter ces phénomènes</a:t>
            </a:r>
            <a:r>
              <a:rPr lang="fr-FR" dirty="0"/>
              <a:t>, on constate et peut repérer </a:t>
            </a:r>
            <a:r>
              <a:rPr lang="fr-FR" b="1" dirty="0"/>
              <a:t>deux types de cause ou causalité possibles </a:t>
            </a:r>
            <a:r>
              <a:rPr lang="fr-FR" dirty="0"/>
              <a:t>pouvant les expliquer :</a:t>
            </a:r>
            <a:r>
              <a:rPr lang="fr-FR" b="1" dirty="0"/>
              <a:t> </a:t>
            </a:r>
            <a:endParaRPr lang="fr-FR" dirty="0"/>
          </a:p>
          <a:p>
            <a:endParaRPr lang="fr-FR" dirty="0"/>
          </a:p>
          <a:p>
            <a:pPr lvl="0"/>
            <a:r>
              <a:rPr lang="fr-FR" dirty="0"/>
              <a:t>Les causes</a:t>
            </a:r>
            <a:r>
              <a:rPr lang="fr-FR" b="1" dirty="0"/>
              <a:t> intentionnelles </a:t>
            </a:r>
            <a:endParaRPr lang="fr-FR" dirty="0"/>
          </a:p>
          <a:p>
            <a:pPr lvl="0"/>
            <a:r>
              <a:rPr lang="fr-FR" dirty="0"/>
              <a:t>Les causes</a:t>
            </a:r>
            <a:r>
              <a:rPr lang="fr-FR" b="1" dirty="0"/>
              <a:t> non-intentionnelles</a:t>
            </a:r>
            <a:endParaRPr lang="fr-FR" dirty="0"/>
          </a:p>
        </p:txBody>
      </p:sp>
    </p:spTree>
    <p:extLst>
      <p:ext uri="{BB962C8B-B14F-4D97-AF65-F5344CB8AC3E}">
        <p14:creationId xmlns:p14="http://schemas.microsoft.com/office/powerpoint/2010/main" val="112140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D33425-E2F9-43EC-8D3B-DD9DAFD735AC}"/>
              </a:ext>
            </a:extLst>
          </p:cNvPr>
          <p:cNvSpPr>
            <a:spLocks noGrp="1"/>
          </p:cNvSpPr>
          <p:nvPr>
            <p:ph type="title"/>
          </p:nvPr>
        </p:nvSpPr>
        <p:spPr>
          <a:xfrm>
            <a:off x="810000" y="447188"/>
            <a:ext cx="10571998" cy="2048362"/>
          </a:xfrm>
        </p:spPr>
        <p:txBody>
          <a:bodyPr>
            <a:normAutofit fontScale="90000"/>
          </a:bodyPr>
          <a:lstStyle/>
          <a:p>
            <a:r>
              <a:rPr lang="fr-FR" sz="4400" dirty="0"/>
              <a:t>III. Des cas empiriques actualisés sur des questions classiques de la science politique empirique</a:t>
            </a:r>
            <a:br>
              <a:rPr lang="fr-FR" sz="4400" dirty="0"/>
            </a:br>
            <a:endParaRPr lang="fr-FR" dirty="0"/>
          </a:p>
        </p:txBody>
      </p:sp>
      <p:sp>
        <p:nvSpPr>
          <p:cNvPr id="3" name="Espace réservé du contenu 2">
            <a:extLst>
              <a:ext uri="{FF2B5EF4-FFF2-40B4-BE49-F238E27FC236}">
                <a16:creationId xmlns:a16="http://schemas.microsoft.com/office/drawing/2014/main" id="{6DD2A6C8-75EA-45F6-8501-B257998BBD8A}"/>
              </a:ext>
            </a:extLst>
          </p:cNvPr>
          <p:cNvSpPr>
            <a:spLocks noGrp="1"/>
          </p:cNvSpPr>
          <p:nvPr>
            <p:ph idx="1"/>
          </p:nvPr>
        </p:nvSpPr>
        <p:spPr/>
        <p:txBody>
          <a:bodyPr>
            <a:normAutofit/>
          </a:bodyPr>
          <a:lstStyle/>
          <a:p>
            <a:r>
              <a:rPr lang="fr-FR" sz="2000" dirty="0"/>
              <a:t>1. Un retour du religieux ? La mesure de la religiosité aujourd’hui</a:t>
            </a:r>
          </a:p>
          <a:p>
            <a:r>
              <a:rPr lang="fr-FR" sz="2000" dirty="0"/>
              <a:t>2. Le comportement politique</a:t>
            </a:r>
          </a:p>
          <a:p>
            <a:r>
              <a:rPr lang="fr-FR" sz="2000" dirty="0"/>
              <a:t>Le vote RN…</a:t>
            </a:r>
          </a:p>
          <a:p>
            <a:r>
              <a:rPr lang="fr-FR" sz="2000" dirty="0"/>
              <a:t>Une poussée « </a:t>
            </a:r>
            <a:r>
              <a:rPr lang="fr-FR" sz="2000" dirty="0" err="1"/>
              <a:t>masculiniste</a:t>
            </a:r>
            <a:r>
              <a:rPr lang="fr-FR" sz="2000" dirty="0"/>
              <a:t> » chez les « jeunes »?</a:t>
            </a:r>
          </a:p>
          <a:p>
            <a:r>
              <a:rPr lang="fr-FR" sz="2000" dirty="0"/>
              <a:t>3. Réseaux sociaux numériques et influence politique: quid de l’influence des Fake News?</a:t>
            </a:r>
          </a:p>
          <a:p>
            <a:r>
              <a:rPr lang="fr-FR" sz="2000" dirty="0"/>
              <a:t>4. Violences et non violence dans les démocraties occidentales</a:t>
            </a:r>
          </a:p>
        </p:txBody>
      </p:sp>
    </p:spTree>
    <p:extLst>
      <p:ext uri="{BB962C8B-B14F-4D97-AF65-F5344CB8AC3E}">
        <p14:creationId xmlns:p14="http://schemas.microsoft.com/office/powerpoint/2010/main" val="5648694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is">
  <a:themeElements>
    <a:clrScheme name="Concis">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Concis">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Concis">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TM03457503[[fn=Concis]]</Template>
  <TotalTime>3171</TotalTime>
  <Words>879</Words>
  <Application>Microsoft Office PowerPoint</Application>
  <PresentationFormat>Grand écran</PresentationFormat>
  <Paragraphs>52</Paragraphs>
  <Slides>11</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11</vt:i4>
      </vt:variant>
    </vt:vector>
  </HeadingPairs>
  <TitlesOfParts>
    <vt:vector size="15" baseType="lpstr">
      <vt:lpstr>Arial</vt:lpstr>
      <vt:lpstr>Century Gothic</vt:lpstr>
      <vt:lpstr>Wingdings 2</vt:lpstr>
      <vt:lpstr>Concis</vt:lpstr>
      <vt:lpstr>       Cours L1 Science politique empirique (15h)   Jérôme Ferret,    Mcf HDR (EHESS) en sociologie </vt:lpstr>
      <vt:lpstr>Présentation PowerPoint</vt:lpstr>
      <vt:lpstr>I. Qu’est-ce que (la, le, les) politique(s)s? Le concept de politisation </vt:lpstr>
      <vt:lpstr>II. Les conditions de l’analyse scientifique du « politique » (ou plutôt de la politisation »</vt:lpstr>
      <vt:lpstr> 1. La construction sociologique de l’objet politique : </vt:lpstr>
      <vt:lpstr>          2. Dans la construction, premier big problem: le problème des valeurs  Jugement de valeur (VS neutralité axiologique) et rapport aux valeurs (compréhension wébérienne).   Jugements de valeurs légitimes selon Léo Strauss : ce qu’il y a d’insupportable  dans l’approche scientifique du sociologue empiriste c’est précisément la suspension du jugement de valeur (exemple du camp de concentration, pb du relativisme).    </vt:lpstr>
      <vt:lpstr>La théorie politique prend en compte les répertoires qui ordonnent le légitime et l’illégitime.  La théorie politique permet de saisir les cadres normatifs de l’action, cad la distinction de légitime et d’illégitime dans le cadre de l’action politique, cad dans le jeu des acteurs, qui donnent une table du pensable et de l’impensable, du faisable de l’infaisable etc.   Les cadres de pensées dans lesquels s’inscrivent les processus politiques :  Exemple des théories de la participation et de la mobilisation. Exemple des liens entre chômage et comportement politiques : sur un plan normatif aucune idéologie politique disponible ne donne de légitimité à un individu sans travail, ni libéralisme, ni socialisme, ni catholicisme : le travail est toujours l’accomplissement de la nature humaine. Le sans-travail ne pourrait pas se penser dans le jeu politique. Exemple des théories de la représentation : un « mandat » qui n’est plus impératif et qui pose la question de la liberté du représentant vis-à-vis du représenté.    </vt:lpstr>
      <vt:lpstr> 3. Expliquer/comprendre mais prouver</vt:lpstr>
      <vt:lpstr>Présentation PowerPoint</vt:lpstr>
      <vt:lpstr> 4. Expliquer/comprendre: le problème de l’agentivité</vt:lpstr>
      <vt:lpstr>III. Des cas empiriques actualisés sur des questions classiques de la science politique empirique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Nacer KASSOUS</dc:creator>
  <cp:lastModifiedBy>JEROME FERRET</cp:lastModifiedBy>
  <cp:revision>139</cp:revision>
  <dcterms:created xsi:type="dcterms:W3CDTF">2022-10-08T09:28:57Z</dcterms:created>
  <dcterms:modified xsi:type="dcterms:W3CDTF">2026-08-31T15:29:00Z</dcterms:modified>
</cp:coreProperties>
</file>